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afa8bfdd554fa6" /><Relationship Type="http://schemas.openxmlformats.org/officeDocument/2006/relationships/extended-properties" Target="/docProps/app.xml" Id="R3aac4ad4fca64dd0" /><Relationship Type="http://schemas.openxmlformats.org/officeDocument/2006/relationships/officeDocument" Target="/ppt/presentation.xml" Id="R2000d188998549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b8ea4909994ac2"/>
  </p:sldMasterIdLst>
  <p:notesMasterIdLst>
    <p:notesMasterId xmlns:r="http://schemas.openxmlformats.org/officeDocument/2006/relationships" r:id="Rbe6be49846f24e43"/>
  </p:notesMasterIdLst>
  <p:sldIdLst>
    <p:sldId xmlns:r="http://schemas.openxmlformats.org/officeDocument/2006/relationships" id="256" r:id="R2bda8611c4f04083"/>
    <p:sldId xmlns:r="http://schemas.openxmlformats.org/officeDocument/2006/relationships" id="257" r:id="Rf6c1d161f6ce48d0"/>
    <p:sldId xmlns:r="http://schemas.openxmlformats.org/officeDocument/2006/relationships" id="258" r:id="Rcf4f819b37a5475e"/>
    <p:sldId xmlns:r="http://schemas.openxmlformats.org/officeDocument/2006/relationships" id="259" r:id="Rd793ddd9d0fa49ef"/>
    <p:sldId xmlns:r="http://schemas.openxmlformats.org/officeDocument/2006/relationships" id="260" r:id="R8082078967b1436b"/>
    <p:sldId xmlns:r="http://schemas.openxmlformats.org/officeDocument/2006/relationships" id="261" r:id="R05ce4ec275c545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bc2447b48c4ef4" /><Relationship Type="http://schemas.openxmlformats.org/officeDocument/2006/relationships/slideMaster" Target="/ppt/slideMasters/slideMaster1.xml" Id="R87b8ea4909994ac2" /><Relationship Type="http://schemas.openxmlformats.org/officeDocument/2006/relationships/notesMaster" Target="/ppt/notesMasters/notesMaster1.xml" Id="Rbe6be49846f24e43" /><Relationship Type="http://schemas.openxmlformats.org/officeDocument/2006/relationships/presProps" Target="/ppt/presProps.xml" Id="R7467c47e44e6407f" /><Relationship Type="http://schemas.openxmlformats.org/officeDocument/2006/relationships/tableStyles" Target="/ppt/tableStyles.xml" Id="R49177ee98c9a4e33" /><Relationship Type="http://schemas.openxmlformats.org/officeDocument/2006/relationships/slide" Target="/ppt/slides/slide1.xml" Id="R2bda8611c4f04083" /><Relationship Type="http://schemas.openxmlformats.org/officeDocument/2006/relationships/slide" Target="/ppt/slides/slide2.xml" Id="Rf6c1d161f6ce48d0" /><Relationship Type="http://schemas.openxmlformats.org/officeDocument/2006/relationships/slide" Target="/ppt/slides/slide3.xml" Id="Rcf4f819b37a5475e" /><Relationship Type="http://schemas.openxmlformats.org/officeDocument/2006/relationships/slide" Target="/ppt/slides/slide4.xml" Id="Rd793ddd9d0fa49ef" /><Relationship Type="http://schemas.openxmlformats.org/officeDocument/2006/relationships/slide" Target="/ppt/slides/slide5.xml" Id="R8082078967b1436b" /><Relationship Type="http://schemas.openxmlformats.org/officeDocument/2006/relationships/slide" Target="/ppt/slides/slide6.xml" Id="R05ce4ec275c545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2aada7014b4f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9125b41bf24db2" /><Relationship Type="http://schemas.openxmlformats.org/officeDocument/2006/relationships/notesMaster" Target="/ppt/notesMasters/notesMaster1.xml" Id="R0c4e4019b65e4d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68e75319e84ad3" /><Relationship Type="http://schemas.openxmlformats.org/officeDocument/2006/relationships/notesMaster" Target="/ppt/notesMasters/notesMaster1.xml" Id="R8461382d86574e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ea27c36bc14a01" /><Relationship Type="http://schemas.openxmlformats.org/officeDocument/2006/relationships/notesMaster" Target="/ppt/notesMasters/notesMaster1.xml" Id="Rfb4509bc335649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78e2f62f804f0d" /><Relationship Type="http://schemas.openxmlformats.org/officeDocument/2006/relationships/notesMaster" Target="/ppt/notesMasters/notesMaster1.xml" Id="R99f0c8ba9b0241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23dd086a47444c" /><Relationship Type="http://schemas.openxmlformats.org/officeDocument/2006/relationships/notesMaster" Target="/ppt/notesMasters/notesMaster1.xml" Id="Rdc10913fd6834b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ebc02bcfbf433a" /><Relationship Type="http://schemas.openxmlformats.org/officeDocument/2006/relationships/notesMaster" Target="/ppt/notesMasters/notesMaster1.xml" Id="R086e09ee192c43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 a 0:35. Escolhi Blade Runner 2049, dirigido por Denis Villeneuve. Minha palavra é identidade. A investigação junta registros e relações para entender uma pessoa. O INTERLINK traduz essa ideia em busca e dossiês conectados. A capa aparece aqui como referência e não entra no site. Fonte do pôster: https://www.warnerbros.it/recap/blade-runner-2049/ e https://warnerbros.cloudstatix.com/wp-content/uploads/2016/12/BR2_onesheet_DIGITAL.jpg. Crédito: material promocional Warner Bros. Italia, © 2017 Alcon Entertainment, LLC.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 a 1:10. Mostre o painel com as 16 referências. A impressão digital inspira registros individuais. O contraste quente e frio orienta os destaques. As interfaces de investigação ajudam a organizar perfis e vínculos. A imagem preserva o painel completo; o PDF do moodboard permite ampliar cada grupo. Estudos vetoriais com apoio de IA identificados no painel. Fontes:</a:t>
            </a:r>
          </a:p>
          <a:p xmlns:a="http://schemas.openxmlformats.org/drawingml/2006/main">
            <a:r>
              <a:t>https://www.warnerbros.it/recap/blade-runner-2049/</a:t>
            </a:r>
          </a:p>
          <a:p xmlns:a="http://schemas.openxmlformats.org/drawingml/2006/main">
            <a:r>
              <a:t>https://warnerbros.cloudstatix.com/wp-content/uploads/2016/12/BR2_onesheet_DIGITAL.jpg</a:t>
            </a:r>
          </a:p>
          <a:p xmlns:a="http://schemas.openxmlformats.org/drawingml/2006/main">
            <a:r>
              <a:t>https://distribuzione.bradek.net/bladerunner2049/img/bladerunner2049_packshot1.zip</a:t>
            </a:r>
          </a:p>
          <a:p xmlns:a="http://schemas.openxmlformats.org/drawingml/2006/main">
            <a:r>
              <a:t>https://distribuzione.bradek.net/bladerunner2049/img/bladerunner2049_packshot2.zip</a:t>
            </a:r>
          </a:p>
          <a:p xmlns:a="http://schemas.openxmlformats.org/drawingml/2006/main">
            <a:r>
              <a:t>https://www.pexels.com/photo/close-up-photo-of-putting-of-fingerprint-on-paper-8382599/</a:t>
            </a:r>
          </a:p>
          <a:p xmlns:a="http://schemas.openxmlformats.org/drawingml/2006/main">
            <a:r>
              <a:t>https://aoshs.org/collections/</a:t>
            </a:r>
          </a:p>
          <a:p xmlns:a="http://schemas.openxmlformats.org/drawingml/2006/main">
            <a:r>
              <a:t>https://unsplash.com/photos/a-dark-hallway-with-blue-lighting-and-a-white-wall-UPdnd-STx5k</a:t>
            </a:r>
          </a:p>
          <a:p xmlns:a="http://schemas.openxmlformats.org/drawingml/2006/main">
            <a:r>
              <a:t>https://unsplash.com/photos/geometric-concrete-structure-with-glass-windows-Z3MsCdxNJg4</a:t>
            </a:r>
          </a:p>
          <a:p xmlns:a="http://schemas.openxmlformats.org/drawingml/2006/main">
            <a:r>
              <a:t>https://unsplash.com/photos/colorful-city-lights-reflected-on-a-rainy-window-8HvGp9KFM44</a:t>
            </a:r>
          </a:p>
          <a:p xmlns:a="http://schemas.openxmlformats.org/drawingml/2006/main">
            <a:r>
              <a:t>https://github.com/GitSquared/edex-ui</a:t>
            </a:r>
          </a:p>
          <a:p xmlns:a="http://schemas.openxmlformats.org/drawingml/2006/main">
            <a:r>
              <a:t>https://www.maltego.com/blog/beginners-guide-to-maltego-charting-my-first-maltego-graph/</a:t>
            </a:r>
          </a:p>
          <a:p xmlns:a="http://schemas.openxmlformats.org/drawingml/2006/main">
            <a:r>
              <a:t>https://grafana.com/docs/grafana/latest/visualizations/panels-visualizations/visualizations/stat/</a:t>
            </a:r>
          </a:p>
          <a:p xmlns:a="http://schemas.openxmlformats.org/drawingml/2006/main">
            <a:r>
              <a:t>https://docs.opencti.io/latest/usage/exploring-entities/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1:10 a 1:40. O fundo quase preto mantém os dados em destaque. Laranja aponta a ação principal; ciano identifica links e conexões. Verde e rosa indicam sucesso e erro com texto. Space Grotesk organiza os títulos e o corpo; DM Mono marca códigos. Os painéis têm borda fina e raio de 6 px. A primeira página do PDF reúne as decisões e os dois desenhos de tela. Fonte: docs/identidade-visual-interlink.pdf; fonts.google.com/specimen/Space+Grotesk e fonts.google.com/specimen/DM+Mono.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1:40 a 3:00. Troque para o site. Abra Suspeitos, pesquise um nome e marque Acompanhar. Ative o filtro Acompanhados. Abra /suspeitos/3 e entre em um perfil relacionado. Explique o caso em comum. Se houver tempo, registre um caso com duas pessoas e veja a nova conexão. Os perfis são fictícios da API JSONPlaceholder; os casos e os riscos são de demonstração. O armazenamento é local. Se o site estiver indisponível, use esta captura e descreva o percurso sem dizer que foi uma demonstração ao vivo. Fonte: captura do INTERLINK em docs/telas/dossie-desktop.png.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3:00 a 4:00. Abra também src/app/pages/suspects.ts. Um signal guarda um valor que muda, como a busca. Para ler, uso search(); para trocar, search.set(...). filtered combina a busca com os filtros. count é computed porque resulta da lista filtrada. Não incremento nem decremento count: o Angular acompanha as dependências lidas. Se a busca deixa apenas dois registros, a contagem vale dois. Os blocos exibem trechos do arquivo, com quebras de linha ajustadas.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4:00 a 5:00. Abra src/app/components/suspect-card.ts e src/app/services/case-store.ts. O botão chama watchToggled.emit(s().id). O template pai recebe o evento e chama toggleWatch. A função abaixo recebe a lista atual. Se o id já existe, filter devolve uma lista sem ele; se não existe, o spread cria uma lista com o novo id. update guarda a nova referência e os computed que dependem dela ficam prontos para recalcular. O effect salva no localStorage. O código vem do projeto, com quebras de linha para leitura. Feche dizendo que as ações colocam a investigação em prática. Se perguntarem sobre IA, explique o apoio registrado no CONCEITO.md.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d4242241a442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75cbd4046447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9c63e5211f4d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9bd625bbe4a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a18303ed847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2ba066740542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FC96C3-7E4B-43C4-B32C-B17054D33E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74C6D1-C3D2-49D6-973A-31B3616EB6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B65E33E-3868-4ED7-AD4F-15783EAFB4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9D4FBB-4FB6-4116-AC6C-240E640558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279A450-7180-43B7-845F-208D0AA263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905029-0D89-45D1-B253-B2C6A5DBF2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CFF400-8919-4602-B24E-4F05AE6855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0A1520A-23D0-4531-B81F-96E5362AD2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241ED9-9573-4B83-A626-20E64672DD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4EEE72-84DE-42F8-B144-63A3D1E3E6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7f616dc21243cb" /><Relationship Type="http://schemas.openxmlformats.org/officeDocument/2006/relationships/slideLayout" Target="/ppt/slideLayouts/slideLayout1.xml" Id="R6e68af3a77334d59" /><Relationship Type="http://schemas.openxmlformats.org/officeDocument/2006/relationships/slideLayout" Target="/ppt/slideLayouts/slideLayout2.xml" Id="R91981bc43b38442d" /><Relationship Type="http://schemas.openxmlformats.org/officeDocument/2006/relationships/slideLayout" Target="/ppt/slideLayouts/slideLayout3.xml" Id="R03d609d2395940cb" /><Relationship Type="http://schemas.openxmlformats.org/officeDocument/2006/relationships/slideLayout" Target="/ppt/slideLayouts/slideLayout4.xml" Id="Rc0b26f53f89c4e9f" /><Relationship Type="http://schemas.openxmlformats.org/officeDocument/2006/relationships/slideLayout" Target="/ppt/slideLayouts/slideLayout5.xml" Id="Rc7f72681f9344c7b" /><Relationship Type="http://schemas.openxmlformats.org/officeDocument/2006/relationships/slideLayout" Target="/ppt/slideLayouts/slideLayout6.xml" Id="R5d11f6a52d3d45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68af3a77334d59"/>
    <p:sldLayoutId xmlns:r="http://schemas.openxmlformats.org/officeDocument/2006/relationships" id="2147483650" r:id="R91981bc43b38442d"/>
    <p:sldLayoutId xmlns:r="http://schemas.openxmlformats.org/officeDocument/2006/relationships" id="2147483651" r:id="R03d609d2395940cb"/>
    <p:sldLayoutId xmlns:r="http://schemas.openxmlformats.org/officeDocument/2006/relationships" id="2147483652" r:id="Rc0b26f53f89c4e9f"/>
    <p:sldLayoutId xmlns:r="http://schemas.openxmlformats.org/officeDocument/2006/relationships" id="2147483653" r:id="Rc7f72681f9344c7b"/>
    <p:sldLayoutId xmlns:r="http://schemas.openxmlformats.org/officeDocument/2006/relationships" id="2147483654" r:id="R5d11f6a52d3d45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397543a2984920" /><Relationship Type="http://schemas.openxmlformats.org/officeDocument/2006/relationships/image" Target="/ppt/media/image.jpeg" Id="R15c9f07a5e7c4a87" /><Relationship Type="http://schemas.openxmlformats.org/officeDocument/2006/relationships/notesSlide" Target="/ppt/notesSlides/notesSlide1.xml" Id="R63ddb948f9e240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699464625457d" /><Relationship Type="http://schemas.openxmlformats.org/officeDocument/2006/relationships/image" Target="/ppt/media/image.png" Id="Rb0a6c734c97747bd" /><Relationship Type="http://schemas.openxmlformats.org/officeDocument/2006/relationships/notesSlide" Target="/ppt/notesSlides/notesSlide2.xml" Id="R0ffe42df53404d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1c3d57cd4e4386" /><Relationship Type="http://schemas.openxmlformats.org/officeDocument/2006/relationships/image" Target="/ppt/media/image2.png" Id="R5ae900b8aacc4477" /><Relationship Type="http://schemas.openxmlformats.org/officeDocument/2006/relationships/notesSlide" Target="/ppt/notesSlides/notesSlide3.xml" Id="Red841fca6a044f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ecc734231f4be2" /><Relationship Type="http://schemas.openxmlformats.org/officeDocument/2006/relationships/image" Target="/ppt/media/image3.png" Id="Re19a3e3a478d44f5" /><Relationship Type="http://schemas.openxmlformats.org/officeDocument/2006/relationships/notesSlide" Target="/ppt/notesSlides/notesSlide4.xml" Id="R4db1f919b10946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cac96de95c44a9" /><Relationship Type="http://schemas.openxmlformats.org/officeDocument/2006/relationships/notesSlide" Target="/ppt/notesSlides/notesSlide5.xml" Id="Rbccfdf5945204b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d337fde9514d66" /><Relationship Type="http://schemas.openxmlformats.org/officeDocument/2006/relationships/notesSlide" Target="/ppt/notesSlides/notesSlide6.xml" Id="Ra60a8f3b7fb349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219E7-BC70-433F-9C02-1A52E164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993A5"/>
                </a:solidFill>
                <a:latin typeface="DM Mono"/>
                <a:ea typeface="DM Mono"/>
                <a:cs typeface="DM Mono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8993A5"/>
                </a:solidFill>
                <a:latin typeface="DM Mono"/>
                <a:ea typeface="DM Mono"/>
                <a:cs typeface="DM Mono"/>
              </a:defRPr>
            </a:pPr>
            <a:r>
              <a:rPr sz="1050" b="0">
                <a:solidFill>
                  <a:srgbClr val="8993A5"/>
                </a:solidFill>
                <a:latin typeface="DM Mono"/>
                <a:ea typeface="DM Mono"/>
                <a:cs typeface="DM Mono"/>
              </a:rPr>
              <a:t>INTERLINK /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CB351-795D-4E2E-99C2-AE7C689C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714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150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pPr>
            <a:r>
              <a:rPr sz="6150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rPr>
              <a:t>INTERLINK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04C80-DABD-4E31-BB6D-8A99CD26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695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F26A3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26A3D"/>
                </a:solidFill>
                <a:latin typeface="Space Grotesk"/>
                <a:ea typeface="Space Grotesk"/>
                <a:cs typeface="Space Grotesk"/>
              </a:defRPr>
            </a:pPr>
            <a:r>
              <a:rPr sz="3600" b="1">
                <a:solidFill>
                  <a:srgbClr val="F26A3D"/>
                </a:solidFill>
                <a:latin typeface="Space Grotesk"/>
                <a:ea typeface="Space Grotesk"/>
                <a:cs typeface="Space Grotesk"/>
              </a:rPr>
              <a:t>IDENTIDADE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DF583-97C8-4937-A97F-448D9A9A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6381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0">
                <a:solidFill>
                  <a:srgbClr val="EDF2F7"/>
                </a:solidFill>
                <a:latin typeface="Space Grotesk"/>
                <a:ea typeface="Space Grotesk"/>
                <a:cs typeface="Space Grotesk"/>
              </a:rPr>
              <a:t>Uma central para investigar pessoas por seus registros e conexões.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CCD7C-E73D-447C-8694-2920A93E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676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rPr>
              <a:t>Referência: Blade Runner 2049</a:t>
            </a:r>
          </a:p>
          <a:p xmlns:a="http://schemas.openxmlformats.org/drawingml/2006/main">
            <a:pPr>
              <a:defRPr sz="1650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rPr>
              <a:t>Direção: Denis Villeneuve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3D475-D56D-45C2-AF8E-7C29963194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9f07a5e7c4a87"/>
          <a:stretch xmlns:a="http://schemas.openxmlformats.org/drawingml/2006/main"/>
        </p:blipFill>
        <p:spPr>
          <a:xfrm xmlns:a="http://schemas.openxmlformats.org/drawingml/2006/main">
            <a:off x="8096250" y="790615"/>
            <a:ext cx="3381375" cy="50100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260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D82BC-D566-4099-BBF3-1D53F6EF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pPr>
            <a:r>
              <a:rPr sz="3450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rPr>
              <a:t>Moodboard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27DFB-7910-4816-8CEB-77ACA6BC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993A5"/>
                </a:solidFill>
                <a:latin typeface="DM Mono"/>
                <a:ea typeface="DM Mono"/>
                <a:cs typeface="DM Mono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8993A5"/>
                </a:solidFill>
                <a:latin typeface="DM Mono"/>
                <a:ea typeface="DM Mono"/>
                <a:cs typeface="DM Mono"/>
              </a:defRPr>
            </a:pPr>
            <a:r>
              <a:rPr sz="1050" b="0">
                <a:solidFill>
                  <a:srgbClr val="8993A5"/>
                </a:solidFill>
                <a:latin typeface="DM Mono"/>
                <a:ea typeface="DM Mono"/>
                <a:cs typeface="DM Mono"/>
              </a:rPr>
              <a:t>INTERLINK / 02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1923D-CF14-4218-AB1D-4F6DA4F4B3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6c734c97747bd"/>
          <a:stretch xmlns:a="http://schemas.openxmlformats.org/drawingml/2006/main"/>
        </p:blipFill>
        <p:spPr>
          <a:xfrm xmlns:a="http://schemas.openxmlformats.org/drawingml/2006/main">
            <a:off x="764037" y="1200150"/>
            <a:ext cx="7025376" cy="4972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DFDBD-AE33-483B-80D3-BD5A7D1A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3067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26A3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26A3D"/>
                </a:solidFill>
                <a:latin typeface="Space Grotesk"/>
                <a:ea typeface="Space Grotesk"/>
                <a:cs typeface="Space Grotesk"/>
              </a:defRPr>
            </a:pPr>
            <a:r>
              <a:rPr sz="2175" b="1">
                <a:solidFill>
                  <a:srgbClr val="F26A3D"/>
                </a:solidFill>
                <a:latin typeface="Space Grotesk"/>
                <a:ea typeface="Space Grotesk"/>
                <a:cs typeface="Space Grotesk"/>
              </a:rPr>
              <a:t>Cada registro tem</a:t>
            </a:r>
          </a:p>
          <a:p xmlns:a="http://schemas.openxmlformats.org/drawingml/2006/main">
            <a:pPr>
              <a:defRPr sz="2175" b="1">
                <a:solidFill>
                  <a:srgbClr val="F26A3D"/>
                </a:solidFill>
                <a:latin typeface="Space Grotesk"/>
                <a:ea typeface="Space Grotesk"/>
                <a:cs typeface="Space Grotesk"/>
              </a:defRPr>
            </a:pPr>
            <a:r>
              <a:rPr sz="2175" b="1">
                <a:solidFill>
                  <a:srgbClr val="F26A3D"/>
                </a:solidFill>
                <a:latin typeface="Space Grotesk"/>
                <a:ea typeface="Space Grotesk"/>
                <a:cs typeface="Space Grotesk"/>
              </a:rPr>
              <a:t>uma identidade.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FD089-A128-4216-9A04-2AF749B5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42D9FF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42D9FF"/>
                </a:solidFill>
                <a:latin typeface="Space Grotesk"/>
                <a:ea typeface="Space Grotesk"/>
                <a:cs typeface="Space Grotesk"/>
              </a:defRPr>
            </a:pPr>
            <a:r>
              <a:rPr sz="2175" b="1">
                <a:solidFill>
                  <a:srgbClr val="42D9FF"/>
                </a:solidFill>
                <a:latin typeface="Space Grotesk"/>
                <a:ea typeface="Space Grotesk"/>
                <a:cs typeface="Space Grotesk"/>
              </a:rPr>
              <a:t>A luz orienta</a:t>
            </a:r>
          </a:p>
          <a:p xmlns:a="http://schemas.openxmlformats.org/drawingml/2006/main">
            <a:pPr>
              <a:defRPr sz="2175" b="1">
                <a:solidFill>
                  <a:srgbClr val="42D9FF"/>
                </a:solidFill>
                <a:latin typeface="Space Grotesk"/>
                <a:ea typeface="Space Grotesk"/>
                <a:cs typeface="Space Grotesk"/>
              </a:defRPr>
            </a:pPr>
            <a:r>
              <a:rPr sz="2175" b="1">
                <a:solidFill>
                  <a:srgbClr val="42D9FF"/>
                </a:solidFill>
                <a:latin typeface="Space Grotesk"/>
                <a:ea typeface="Space Grotesk"/>
                <a:cs typeface="Space Grotesk"/>
              </a:rPr>
              <a:t>o olhar.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D22BF-6578-41F0-BAE7-C45998F4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67225"/>
            <a:ext cx="3067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pPr>
            <a:r>
              <a:rPr sz="2175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rPr>
              <a:t>As relações ajudam</a:t>
            </a:r>
          </a:p>
          <a:p xmlns:a="http://schemas.openxmlformats.org/drawingml/2006/main">
            <a:pPr>
              <a:defRPr sz="2175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pPr>
            <a:r>
              <a:rPr sz="2175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rPr>
              <a:t>a investigação.</a:t>
            </a:r>
          </a:p>
        </p:txBody>
      </p:sp>
    </p:spTree>
    <p:extLst>
      <p:ext uri="{BB962C8B-B14F-4D97-AF65-F5344CB8AC3E}">
        <p14:creationId xmlns:p14="http://schemas.microsoft.com/office/powerpoint/2010/main" val="2944255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317AD-1895-468C-BB45-6780CCD8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pPr>
            <a:r>
              <a:rPr sz="3450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rPr>
              <a:t>Identidade visual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D113D-7ECD-4997-B6F2-2805B3EA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993A5"/>
                </a:solidFill>
                <a:latin typeface="DM Mono"/>
                <a:ea typeface="DM Mono"/>
                <a:cs typeface="DM Mono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8993A5"/>
                </a:solidFill>
                <a:latin typeface="DM Mono"/>
                <a:ea typeface="DM Mono"/>
                <a:cs typeface="DM Mono"/>
              </a:defRPr>
            </a:pPr>
            <a:r>
              <a:rPr sz="1050" b="0">
                <a:solidFill>
                  <a:srgbClr val="8993A5"/>
                </a:solidFill>
                <a:latin typeface="DM Mono"/>
                <a:ea typeface="DM Mono"/>
                <a:cs typeface="DM Mono"/>
              </a:rPr>
              <a:t>INTERLINK / 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B8032-C12E-4AB4-A935-D02F7CCFEA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900b8aacc4477"/>
          <a:stretch xmlns:a="http://schemas.openxmlformats.org/drawingml/2006/main"/>
        </p:blipFill>
        <p:spPr>
          <a:xfrm xmlns:a="http://schemas.openxmlformats.org/drawingml/2006/main">
            <a:off x="764037" y="1200150"/>
            <a:ext cx="7025376" cy="4972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23489-E13B-4D4B-97C7-42A0E307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F26A3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26A3D"/>
                </a:solidFill>
                <a:latin typeface="Space Grotesk"/>
                <a:ea typeface="Space Grotesk"/>
                <a:cs typeface="Space Grotesk"/>
              </a:defRPr>
            </a:pPr>
            <a:r>
              <a:rPr sz="2400" b="1">
                <a:solidFill>
                  <a:srgbClr val="F26A3D"/>
                </a:solidFill>
                <a:latin typeface="Space Grotesk"/>
                <a:ea typeface="Space Grotesk"/>
                <a:cs typeface="Space Grotesk"/>
              </a:rPr>
              <a:t>Laranja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C6FFB-1BAB-410A-8870-E1293A77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0">
                <a:solidFill>
                  <a:srgbClr val="EDF2F7"/>
                </a:solidFill>
                <a:latin typeface="Space Grotesk"/>
                <a:ea typeface="Space Grotesk"/>
                <a:cs typeface="Space Grotesk"/>
              </a:rPr>
              <a:t>A ação principal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1C8D6-3653-41D1-8BA1-61787B12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76575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42D9FF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D9FF"/>
                </a:solidFill>
                <a:latin typeface="Space Grotesk"/>
                <a:ea typeface="Space Grotesk"/>
                <a:cs typeface="Space Grotesk"/>
              </a:defRPr>
            </a:pPr>
            <a:r>
              <a:rPr sz="2400" b="1">
                <a:solidFill>
                  <a:srgbClr val="42D9FF"/>
                </a:solidFill>
                <a:latin typeface="Space Grotesk"/>
                <a:ea typeface="Space Grotesk"/>
                <a:cs typeface="Space Grotesk"/>
              </a:rPr>
              <a:t>Ciano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16136-D995-4843-B558-8DD6AD50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0">
                <a:solidFill>
                  <a:srgbClr val="EDF2F7"/>
                </a:solidFill>
                <a:latin typeface="Space Grotesk"/>
                <a:ea typeface="Space Grotesk"/>
                <a:cs typeface="Space Grotesk"/>
              </a:rPr>
              <a:t>Links e conexões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51425-CE17-424E-AA15-B847C6DB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86325"/>
            <a:ext cx="2952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defRPr>
            </a:pPr>
            <a:r>
              <a:rPr sz="2025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rPr>
              <a:t>Painéis simples</a:t>
            </a:r>
          </a:p>
          <a:p xmlns:a="http://schemas.openxmlformats.org/drawingml/2006/main">
            <a:pPr>
              <a:defRPr sz="2025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defRPr>
            </a:pPr>
            <a:r>
              <a:rPr sz="2025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rPr>
              <a:t>e dados legíveis</a:t>
            </a:r>
          </a:p>
        </p:txBody>
      </p:sp>
    </p:spTree>
    <p:extLst>
      <p:ext uri="{BB962C8B-B14F-4D97-AF65-F5344CB8AC3E}">
        <p14:creationId xmlns:p14="http://schemas.microsoft.com/office/powerpoint/2010/main" val="1260622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A2AF5-4DD2-4631-8AA0-F97472F0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pPr>
            <a:r>
              <a:rPr sz="3450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rPr>
              <a:t>Investigação por conexões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D03C3-B6C0-43EE-82E6-85598B04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993A5"/>
                </a:solidFill>
                <a:latin typeface="DM Mono"/>
                <a:ea typeface="DM Mono"/>
                <a:cs typeface="DM Mono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8993A5"/>
                </a:solidFill>
                <a:latin typeface="DM Mono"/>
                <a:ea typeface="DM Mono"/>
                <a:cs typeface="DM Mono"/>
              </a:defRPr>
            </a:pPr>
            <a:r>
              <a:rPr sz="1050" b="0">
                <a:solidFill>
                  <a:srgbClr val="8993A5"/>
                </a:solidFill>
                <a:latin typeface="DM Mono"/>
                <a:ea typeface="DM Mono"/>
                <a:cs typeface="DM Mono"/>
              </a:rPr>
              <a:t>INTERLINK / 04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C11B6-10A5-4417-9E41-B3B125A7A2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a3e3a478d44f5"/>
          <a:stretch xmlns:a="http://schemas.openxmlformats.org/drawingml/2006/main"/>
        </p:blipFill>
        <p:spPr>
          <a:xfrm xmlns:a="http://schemas.openxmlformats.org/drawingml/2006/main">
            <a:off x="577150" y="1266825"/>
            <a:ext cx="5036949" cy="4953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67A09-4AE4-4A02-B892-259F0484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33525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42D9FF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42D9FF"/>
                </a:solidFill>
                <a:latin typeface="Space Grotesk"/>
                <a:ea typeface="Space Grotesk"/>
                <a:cs typeface="Space Grotesk"/>
              </a:defRPr>
            </a:pPr>
            <a:r>
              <a:rPr sz="2700" b="1">
                <a:solidFill>
                  <a:srgbClr val="42D9FF"/>
                </a:solidFill>
                <a:latin typeface="Space Grotesk"/>
                <a:ea typeface="Space Grotesk"/>
                <a:cs typeface="Space Grotesk"/>
              </a:rPr>
              <a:t>Um caso em comum</a:t>
            </a:r>
          </a:p>
          <a:p xmlns:a="http://schemas.openxmlformats.org/drawingml/2006/main">
            <a:pPr>
              <a:defRPr sz="2700" b="1">
                <a:solidFill>
                  <a:srgbClr val="42D9FF"/>
                </a:solidFill>
                <a:latin typeface="Space Grotesk"/>
                <a:ea typeface="Space Grotesk"/>
                <a:cs typeface="Space Grotesk"/>
              </a:defRPr>
            </a:pPr>
            <a:r>
              <a:rPr sz="2700" b="1">
                <a:solidFill>
                  <a:srgbClr val="42D9FF"/>
                </a:solidFill>
                <a:latin typeface="Space Grotesk"/>
                <a:ea typeface="Space Grotesk"/>
                <a:cs typeface="Space Grotesk"/>
              </a:rPr>
              <a:t>explica a ligação.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F66FB-8634-4343-872A-833275D7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pPr>
            <a:r>
              <a:rPr sz="2100" b="0">
                <a:solidFill>
                  <a:srgbClr val="EDF2F7"/>
                </a:solidFill>
                <a:latin typeface="Space Grotesk"/>
                <a:ea typeface="Space Grotesk"/>
                <a:cs typeface="Space Grotesk"/>
              </a:rPr>
              <a:t>A busca leva ao dossiê.</a:t>
            </a:r>
          </a:p>
          <a:p xmlns:a="http://schemas.openxmlformats.org/drawingml/2006/main">
            <a:pPr>
              <a:defRPr sz="2100" b="0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pPr>
            <a:r>
              <a:rPr sz="2100" b="0">
                <a:solidFill>
                  <a:srgbClr val="EDF2F7"/>
                </a:solidFill>
                <a:latin typeface="Space Grotesk"/>
                <a:ea typeface="Space Grotesk"/>
                <a:cs typeface="Space Grotesk"/>
              </a:rPr>
              <a:t>O dossiê leva a outras pessoas.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3BC7E-C450-42A4-850F-E1EC2104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76850"/>
            <a:ext cx="519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rPr>
              <a:t>Perfis e casos fictícios.</a:t>
            </a:r>
          </a:p>
          <a:p xmlns:a="http://schemas.openxmlformats.org/drawingml/2006/main">
            <a:pPr>
              <a:defRPr sz="1650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rPr>
              <a:t>Casos salvos neste navegador.</a:t>
            </a:r>
          </a:p>
        </p:txBody>
      </p:sp>
    </p:spTree>
    <p:extLst>
      <p:ext uri="{BB962C8B-B14F-4D97-AF65-F5344CB8AC3E}">
        <p14:creationId xmlns:p14="http://schemas.microsoft.com/office/powerpoint/2010/main" val="16969335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A1907-FE41-48AD-81A6-EBB83349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pPr>
            <a:r>
              <a:rPr sz="3450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rPr>
              <a:t>Estado e valores calculados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B4930-72F7-4FA2-BA82-79E1D28C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993A5"/>
                </a:solidFill>
                <a:latin typeface="DM Mono"/>
                <a:ea typeface="DM Mono"/>
                <a:cs typeface="DM Mono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8993A5"/>
                </a:solidFill>
                <a:latin typeface="DM Mono"/>
                <a:ea typeface="DM Mono"/>
                <a:cs typeface="DM Mono"/>
              </a:defRPr>
            </a:pPr>
            <a:r>
              <a:rPr sz="1050" b="0">
                <a:solidFill>
                  <a:srgbClr val="8993A5"/>
                </a:solidFill>
                <a:latin typeface="DM Mono"/>
                <a:ea typeface="DM Mono"/>
                <a:cs typeface="DM Mono"/>
              </a:rPr>
              <a:t>INTERLINK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95A5E-A03A-43E7-AF23-20DE224A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26A3D"/>
                </a:solidFill>
                <a:latin typeface="DM Mono"/>
                <a:ea typeface="DM Mono"/>
                <a:cs typeface="DM Mono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26A3D"/>
                </a:solidFill>
                <a:latin typeface="DM Mono"/>
                <a:ea typeface="DM Mono"/>
                <a:cs typeface="DM Mono"/>
              </a:defRPr>
            </a:pPr>
            <a:r>
              <a:rPr sz="3000" b="1">
                <a:solidFill>
                  <a:srgbClr val="F26A3D"/>
                </a:solidFill>
                <a:latin typeface="DM Mono"/>
                <a:ea typeface="DM Mono"/>
                <a:cs typeface="DM Mono"/>
              </a:rPr>
              <a:t>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2B28D-093C-49A9-849C-8AA5D5E1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EDF2F7"/>
                </a:solidFill>
                <a:latin typeface="DM Mono"/>
                <a:ea typeface="DM Mono"/>
                <a:cs typeface="DM Mon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EDF2F7"/>
                </a:solidFill>
                <a:latin typeface="DM Mono"/>
                <a:ea typeface="DM Mono"/>
                <a:cs typeface="DM Mono"/>
              </a:defRPr>
            </a:pPr>
            <a:r>
              <a:rPr sz="2175" b="0">
                <a:solidFill>
                  <a:srgbClr val="EDF2F7"/>
                </a:solidFill>
                <a:latin typeface="DM Mono"/>
                <a:ea typeface="DM Mono"/>
                <a:cs typeface="DM Mono"/>
              </a:rPr>
              <a:t>readonly search = signal('');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CD71C-4BD5-4323-BD1F-E05BD0DD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defRPr>
            </a:pPr>
            <a:r>
              <a:rPr sz="2175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rPr>
              <a:t>Guarda o texto que a pessoa digita.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0F41A-E279-4967-8D4D-2F02868E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42D9FF"/>
                </a:solidFill>
                <a:latin typeface="DM Mono"/>
                <a:ea typeface="DM Mono"/>
                <a:cs typeface="DM Mono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42D9FF"/>
                </a:solidFill>
                <a:latin typeface="DM Mono"/>
                <a:ea typeface="DM Mono"/>
                <a:cs typeface="DM Mono"/>
              </a:defRPr>
            </a:pPr>
            <a:r>
              <a:rPr sz="3000" b="1">
                <a:solidFill>
                  <a:srgbClr val="42D9FF"/>
                </a:solidFill>
                <a:latin typeface="DM Mono"/>
                <a:ea typeface="DM Mono"/>
                <a:cs typeface="DM Mono"/>
              </a:rPr>
              <a:t>computed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6169E-18A9-40C3-A3E9-6BC55EC9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EDF2F7"/>
                </a:solidFill>
                <a:latin typeface="DM Mono"/>
                <a:ea typeface="DM Mono"/>
                <a:cs typeface="DM Mon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DF2F7"/>
                </a:solidFill>
                <a:latin typeface="DM Mono"/>
                <a:ea typeface="DM Mono"/>
                <a:cs typeface="DM Mono"/>
              </a:defRPr>
            </a:pPr>
            <a:r>
              <a:rPr sz="2100" b="0">
                <a:solidFill>
                  <a:srgbClr val="EDF2F7"/>
                </a:solidFill>
                <a:latin typeface="DM Mono"/>
                <a:ea typeface="DM Mono"/>
                <a:cs typeface="DM Mono"/>
              </a:rPr>
              <a:t>readonly count = computed(() =&gt; this.filtered().length);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38A3F-3933-43D6-B220-64C3B2AE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24525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defRPr>
            </a:pPr>
            <a:r>
              <a:rPr sz="2025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rPr>
              <a:t>Calcula quantos registros passaram pelos filtros.</a:t>
            </a:r>
          </a:p>
        </p:txBody>
      </p:sp>
    </p:spTree>
    <p:extLst>
      <p:ext uri="{BB962C8B-B14F-4D97-AF65-F5344CB8AC3E}">
        <p14:creationId xmlns:p14="http://schemas.microsoft.com/office/powerpoint/2010/main" val="10046825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FEEA7-170D-4A0F-8663-F8F6E32F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defRPr>
            </a:pPr>
            <a:r>
              <a:rPr sz="3450" b="1">
                <a:solidFill>
                  <a:srgbClr val="EDF2F7"/>
                </a:solidFill>
                <a:latin typeface="Space Grotesk"/>
                <a:ea typeface="Space Grotesk"/>
                <a:cs typeface="Space Grotesk"/>
              </a:rPr>
              <a:t>O clique muda o acompanhamento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76598-8DC4-484E-B7F8-BD1F3EF8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993A5"/>
                </a:solidFill>
                <a:latin typeface="DM Mono"/>
                <a:ea typeface="DM Mono"/>
                <a:cs typeface="DM Mono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8993A5"/>
                </a:solidFill>
                <a:latin typeface="DM Mono"/>
                <a:ea typeface="DM Mono"/>
                <a:cs typeface="DM Mono"/>
              </a:defRPr>
            </a:pPr>
            <a:r>
              <a:rPr sz="1050" b="0">
                <a:solidFill>
                  <a:srgbClr val="8993A5"/>
                </a:solidFill>
                <a:latin typeface="DM Mono"/>
                <a:ea typeface="DM Mono"/>
                <a:cs typeface="DM Mono"/>
              </a:rPr>
              <a:t>INTERLINK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61F03-4D20-4D18-8508-B790C518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1922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defRPr>
            </a:pPr>
            <a:r>
              <a:rPr sz="2250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rPr>
              <a:t>1. O card emite o identificador.</a:t>
            </a:r>
          </a:p>
          <a:p xmlns:a="http://schemas.openxmlformats.org/drawingml/2006/main">
            <a:pPr>
              <a:defRPr sz="2250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defRPr>
            </a:pPr>
            <a:r>
              <a:rPr sz="2250" b="0">
                <a:solidFill>
                  <a:srgbClr val="8993A5"/>
                </a:solidFill>
                <a:latin typeface="Space Grotesk"/>
                <a:ea typeface="Space Grotesk"/>
                <a:cs typeface="Space Grotesk"/>
              </a:rPr>
              <a:t>2. O pai chama o serviço.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84E2B-F5CC-4864-B1B3-BE147CE1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111252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EDF2F7"/>
                </a:solidFill>
                <a:latin typeface="DM Mono"/>
                <a:ea typeface="DM Mono"/>
                <a:cs typeface="DM Mon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EDF2F7"/>
                </a:solidFill>
                <a:latin typeface="DM Mono"/>
                <a:ea typeface="DM Mono"/>
                <a:cs typeface="DM Mono"/>
              </a:defRPr>
            </a:pPr>
            <a:r>
              <a:rPr sz="2250" b="0">
                <a:solidFill>
                  <a:srgbClr val="EDF2F7"/>
                </a:solidFill>
                <a:latin typeface="DM Mono"/>
                <a:ea typeface="DM Mono"/>
                <a:cs typeface="DM Mono"/>
              </a:rPr>
              <a:t>toggleWatch(id: number): void {</a:t>
            </a:r>
          </a:p>
          <a:p xmlns:a="http://schemas.openxmlformats.org/drawingml/2006/main">
            <a:pPr>
              <a:defRPr sz="2250" b="0">
                <a:solidFill>
                  <a:srgbClr val="EDF2F7"/>
                </a:solidFill>
                <a:latin typeface="DM Mono"/>
                <a:ea typeface="DM Mono"/>
                <a:cs typeface="DM Mono"/>
              </a:defRPr>
            </a:pPr>
            <a:r>
              <a:rPr sz="2250" b="0">
                <a:solidFill>
                  <a:srgbClr val="EDF2F7"/>
                </a:solidFill>
                <a:latin typeface="DM Mono"/>
                <a:ea typeface="DM Mono"/>
                <a:cs typeface="DM Mono"/>
              </a:rPr>
              <a:t>  this.watchedIds.update((ids) =&gt;</a:t>
            </a:r>
          </a:p>
          <a:p xmlns:a="http://schemas.openxmlformats.org/drawingml/2006/main">
            <a:pPr>
              <a:defRPr sz="2250" b="0">
                <a:solidFill>
                  <a:srgbClr val="EDF2F7"/>
                </a:solidFill>
                <a:latin typeface="DM Mono"/>
                <a:ea typeface="DM Mono"/>
                <a:cs typeface="DM Mono"/>
              </a:defRPr>
            </a:pPr>
            <a:r>
              <a:rPr sz="2250" b="0">
                <a:solidFill>
                  <a:srgbClr val="EDF2F7"/>
                </a:solidFill>
                <a:latin typeface="DM Mono"/>
                <a:ea typeface="DM Mono"/>
                <a:cs typeface="DM Mono"/>
              </a:rPr>
              <a:t>    ids.includes(id)</a:t>
            </a:r>
          </a:p>
          <a:p xmlns:a="http://schemas.openxmlformats.org/drawingml/2006/main">
            <a:pPr>
              <a:defRPr sz="2250" b="0">
                <a:solidFill>
                  <a:srgbClr val="EDF2F7"/>
                </a:solidFill>
                <a:latin typeface="DM Mono"/>
                <a:ea typeface="DM Mono"/>
                <a:cs typeface="DM Mono"/>
              </a:defRPr>
            </a:pPr>
            <a:r>
              <a:rPr sz="2250" b="0">
                <a:solidFill>
                  <a:srgbClr val="EDF2F7"/>
                </a:solidFill>
                <a:latin typeface="DM Mono"/>
                <a:ea typeface="DM Mono"/>
                <a:cs typeface="DM Mono"/>
              </a:rPr>
              <a:t>      ? ids.filter((x) =&gt; x !== id)</a:t>
            </a:r>
          </a:p>
          <a:p xmlns:a="http://schemas.openxmlformats.org/drawingml/2006/main">
            <a:pPr>
              <a:defRPr sz="2250" b="0">
                <a:solidFill>
                  <a:srgbClr val="EDF2F7"/>
                </a:solidFill>
                <a:latin typeface="DM Mono"/>
                <a:ea typeface="DM Mono"/>
                <a:cs typeface="DM Mono"/>
              </a:defRPr>
            </a:pPr>
            <a:r>
              <a:rPr sz="2250" b="0">
                <a:solidFill>
                  <a:srgbClr val="EDF2F7"/>
                </a:solidFill>
                <a:latin typeface="DM Mono"/>
                <a:ea typeface="DM Mono"/>
                <a:cs typeface="DM Mono"/>
              </a:rPr>
              <a:t>      : [...ids, id],</a:t>
            </a:r>
          </a:p>
          <a:p xmlns:a="http://schemas.openxmlformats.org/drawingml/2006/main">
            <a:pPr>
              <a:defRPr sz="2250" b="0">
                <a:solidFill>
                  <a:srgbClr val="EDF2F7"/>
                </a:solidFill>
                <a:latin typeface="DM Mono"/>
                <a:ea typeface="DM Mono"/>
                <a:cs typeface="DM Mono"/>
              </a:defRPr>
            </a:pPr>
            <a:r>
              <a:rPr sz="2250" b="0">
                <a:solidFill>
                  <a:srgbClr val="EDF2F7"/>
                </a:solidFill>
                <a:latin typeface="DM Mono"/>
                <a:ea typeface="DM Mono"/>
                <a:cs typeface="DM Mono"/>
              </a:rPr>
              <a:t>  );</a:t>
            </a:r>
          </a:p>
          <a:p xmlns:a="http://schemas.openxmlformats.org/drawingml/2006/main">
            <a:pPr>
              <a:defRPr sz="2250" b="0">
                <a:solidFill>
                  <a:srgbClr val="EDF2F7"/>
                </a:solidFill>
                <a:latin typeface="DM Mono"/>
                <a:ea typeface="DM Mono"/>
                <a:cs typeface="DM Mono"/>
              </a:defRPr>
            </a:pPr>
            <a:r>
              <a:rPr sz="2250" b="0">
                <a:solidFill>
                  <a:srgbClr val="EDF2F7"/>
                </a:solidFill>
                <a:latin typeface="DM Mono"/>
                <a:ea typeface="DM Mono"/>
                <a:cs typeface="DM Mono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ACB0B-3753-4212-9D72-19F13942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42D9FF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42D9FF"/>
                </a:solidFill>
                <a:latin typeface="Space Grotesk"/>
                <a:ea typeface="Space Grotesk"/>
                <a:cs typeface="Space Grotesk"/>
              </a:defRPr>
            </a:pPr>
            <a:r>
              <a:rPr sz="2325" b="1">
                <a:solidFill>
                  <a:srgbClr val="42D9FF"/>
                </a:solidFill>
                <a:latin typeface="Space Grotesk"/>
                <a:ea typeface="Space Grotesk"/>
                <a:cs typeface="Space Grotesk"/>
              </a:rPr>
              <a:t>Uma nova lista atualiza os cards e os filtros.</a:t>
            </a:r>
          </a:p>
        </p:txBody>
      </p:sp>
    </p:spTree>
    <p:extLst>
      <p:ext uri="{BB962C8B-B14F-4D97-AF65-F5344CB8AC3E}">
        <p14:creationId xmlns:p14="http://schemas.microsoft.com/office/powerpoint/2010/main" val="1207175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2026-10-06T16:13:23.7790000Z</dcterms:created>
  <dcterms:modified xsi:type="dcterms:W3CDTF">2026-10-06T16:13:23.7790000Z</dcterms:modified>
</coreProperties>
</file>